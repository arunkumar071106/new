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4" r:id="rId4"/>
    <p:sldId id="295" r:id="rId5"/>
    <p:sldId id="297" r:id="rId6"/>
    <p:sldId id="289" r:id="rId7"/>
    <p:sldId id="290" r:id="rId8"/>
    <p:sldId id="291" r:id="rId9"/>
    <p:sldId id="292" r:id="rId10"/>
    <p:sldId id="293" r:id="rId11"/>
    <p:sldId id="296" r:id="rId12"/>
    <p:sldId id="305" r:id="rId13"/>
    <p:sldId id="299" r:id="rId14"/>
    <p:sldId id="300" r:id="rId15"/>
    <p:sldId id="301" r:id="rId16"/>
    <p:sldId id="302" r:id="rId17"/>
    <p:sldId id="30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0" autoAdjust="0"/>
    <p:restoredTop sz="94660"/>
  </p:normalViewPr>
  <p:slideViewPr>
    <p:cSldViewPr snapToGrid="0" showGuides="1">
      <p:cViewPr>
        <p:scale>
          <a:sx n="58" d="100"/>
          <a:sy n="58" d="100"/>
        </p:scale>
        <p:origin x="1044" y="68"/>
      </p:cViewPr>
      <p:guideLst>
        <p:guide orient="horz" pos="2160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15F2C-0D94-4815-9D73-56989C52265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F067A-73FA-4F74-B401-CA7EDB73D15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662" y="1452716"/>
            <a:ext cx="3450969" cy="3450969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7511845" y="556751"/>
            <a:ext cx="0" cy="57444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758" y="1749408"/>
            <a:ext cx="56535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AAA</a:t>
            </a:r>
            <a:endParaRPr lang="en-IN" sz="6000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8409" y="2222654"/>
            <a:ext cx="5753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College of Engineering and Technology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28409" y="2580405"/>
            <a:ext cx="351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(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An Autonomous Institution)</a:t>
            </a:r>
            <a:endParaRPr lang="en-IN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6758" y="2934002"/>
            <a:ext cx="65838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Accredited by NBA (CIVIL,CSE, ECE, EEE, MECH), 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NAAC with ‘A’ Grade, An ISO 21001: 2018 Certified Institution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(Approved by AICTE, New Delhi &amp; Affiliated to Anna University, Chennai)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Amathur</a:t>
            </a:r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, Sivakasi - 626 005.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0863" y="4622843"/>
            <a:ext cx="5550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13" name="Group 12"/>
            <p:cNvGrpSpPr/>
            <p:nvPr/>
          </p:nvGrpSpPr>
          <p:grpSpPr>
            <a:xfrm>
              <a:off x="118858" y="642549"/>
              <a:ext cx="11918203" cy="707886"/>
              <a:chOff x="118858" y="551109"/>
              <a:chExt cx="11918203" cy="707886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118858" y="551109"/>
                <a:ext cx="11918203" cy="707886"/>
                <a:chOff x="118858" y="551109"/>
                <a:chExt cx="11918203" cy="707886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93830" y="626793"/>
                  <a:ext cx="543231" cy="543231"/>
                </a:xfrm>
                <a:prstGeom prst="rect">
                  <a:avLst/>
                </a:prstGeom>
              </p:spPr>
            </p:pic>
            <p:sp>
              <p:nvSpPr>
                <p:cNvPr id="4" name="Rectangle 3"/>
                <p:cNvSpPr/>
                <p:nvPr/>
              </p:nvSpPr>
              <p:spPr>
                <a:xfrm>
                  <a:off x="2024377" y="573269"/>
                  <a:ext cx="9316721" cy="663566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397909" y="551109"/>
                  <a:ext cx="1789969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TITLE</a:t>
                  </a:r>
                  <a:endParaRPr lang="en-IN" sz="40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118858" y="573269"/>
                  <a:ext cx="1669302" cy="663566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620563" y="665602"/>
                <a:ext cx="6658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01</a:t>
                </a:r>
                <a:endParaRPr lang="en-IN" sz="2800" dirty="0">
                  <a:solidFill>
                    <a:schemeClr val="bg1"/>
                  </a:solidFill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0563859" y="528635"/>
              <a:ext cx="1490980" cy="935714"/>
              <a:chOff x="10563859" y="528635"/>
              <a:chExt cx="1490980" cy="935714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1056619" y="1415385"/>
                <a:ext cx="998220" cy="4896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1056619" y="528635"/>
                <a:ext cx="998220" cy="4896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0810239" y="1415385"/>
                <a:ext cx="162561" cy="4896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0563859" y="1415385"/>
                <a:ext cx="162561" cy="4896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25" name="TextBox 24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49878" y="2779621"/>
            <a:ext cx="6492241" cy="127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ookman Old Style" panose="02050604050505020204" pitchFamily="18" charset="0"/>
              </a:rPr>
              <a:t>BATCH NAME: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            1. ARUN KUMAR T (953724243007)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  2. PRIYAN M (953724243040)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19580" y="4580559"/>
            <a:ext cx="41528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ookman Old Style" panose="02050604050505020204" pitchFamily="18" charset="0"/>
              </a:rPr>
              <a:t>SUPERVISOR</a:t>
            </a:r>
          </a:p>
          <a:p>
            <a:pPr algn="ctr">
              <a:spcBef>
                <a:spcPts val="600"/>
              </a:spcBef>
            </a:pP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[SUPERVISOR NAME]</a:t>
            </a:r>
          </a:p>
          <a:p>
            <a:pPr algn="ctr">
              <a:spcBef>
                <a:spcPts val="600"/>
              </a:spcBef>
            </a:pP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[DESIGNATION] / AI&amp;DS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9879" y="1695930"/>
            <a:ext cx="6492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ookman Old Style" panose="02050604050505020204" pitchFamily="18" charset="0"/>
              </a:rPr>
              <a:t>PROJECT TITLE</a:t>
            </a:r>
          </a:p>
          <a:p>
            <a:pPr algn="ctr"/>
            <a:r>
              <a:rPr lang="en-IN" sz="2000" dirty="0">
                <a:latin typeface="Bookman Old Style" panose="02050604050505020204" pitchFamily="18" charset="0"/>
              </a:rPr>
              <a:t>MULTI-ENVIRONMENT CONFIGURATION MANAGEMENT WITH HELM</a:t>
            </a:r>
            <a:endParaRPr lang="en-IN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64709"/>
                <a:ext cx="11918203" cy="737966"/>
                <a:chOff x="118858" y="573269"/>
                <a:chExt cx="11918203" cy="73796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73269"/>
                  <a:ext cx="11918203" cy="737966"/>
                  <a:chOff x="118858" y="573269"/>
                  <a:chExt cx="11918203" cy="73796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405087" y="603349"/>
                    <a:ext cx="6555299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PROBLEM DESCRIPTION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02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2820" y="1561465"/>
            <a:ext cx="10656000" cy="457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Every application runs in development, testing, staging and production, and each environment needs different settings (replicas, resource limits, log levels, feature flags). Keeping a copy of the Kubernetes manifests per environment makes the copies drift apart, and a wrong value is found only after deployment.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 change must be repeated in every copy, secrets are often written into manifests, nothing checks the values before deployment, and a failed release is hard to undo because no revision history is used.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Hence, this project is proposed: one Helm chart with a small values file per environment, a JSON Schema that validates the values, release history with rollback, and a GitHub Actions pipeline that deploys all four environments to a cluster.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7886"/>
                <a:chOff x="118858" y="528949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7886"/>
                  <a:chOff x="118858" y="528949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4683055" y="528949"/>
                    <a:ext cx="3238781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OBJECTIVE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03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3508" y="1862359"/>
            <a:ext cx="11024787" cy="3369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Develop a Flask dashboard showing name, environment, version and configuration.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Package the application as one Docker image (non-root) used in every environment.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Create one reusable Helm chart for development, testing, staging and production.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Keep every environment difference in a small values file (replicas, resources, flags).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Validate values with a JSON Schema, helm lint, helm template and kubeconform.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Deploy with helm upgrade --install --atomic; test, upgrade and roll back releases.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Keep secrets out of Git; verify with 62 pytest cases and GitHub Actions.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8025"/>
                <a:chOff x="118858" y="528949"/>
                <a:chExt cx="11918203" cy="708025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8025"/>
                  <a:chOff x="118858" y="528949"/>
                  <a:chExt cx="11918203" cy="708025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024493" y="528949"/>
                    <a:ext cx="9317355" cy="7080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just"/>
                    <a:r>
                      <a:rPr lang="en-US" altLang="en-IN" sz="36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ZERO REVIEW QUERIES SUGGESTION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04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1776787006"/>
              </p:ext>
            </p:extLst>
          </p:nvPr>
        </p:nvGraphicFramePr>
        <p:xfrm>
          <a:off x="2024377" y="1995237"/>
          <a:ext cx="8534400" cy="3362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Query/Corrections/Suggestion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Explain the implementation clearly.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Bookman Old Style" panose="02050604050505020204" pitchFamily="18" charset="0"/>
                        </a:rPr>
                        <a:t>Flask image + one Helm chart + 4 values files; deploy.sh installs; helm test verifies.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Explain the project based on the main problem.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Bookman Old Style" panose="02050604050505020204" pitchFamily="18" charset="0"/>
                        </a:rPr>
                        <a:t>Problem: copied, unchecked manifests drift apart. Fix: one chart, values files, schema.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Provide a detailed Root Cause Analysis.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Bookman Old Style" panose="02050604050505020204" pitchFamily="18" charset="0"/>
                        </a:rPr>
                        <a:t>Cause: configuration copied per environment, not validated, no history. Fix: chart, schema, rollback.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973197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Specify the implementation location.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Bookman Old Style" panose="02050604050505020204" pitchFamily="18" charset="0"/>
                        </a:rPr>
                        <a:t>Dev machine and a kind cluster in GitHub Actions; repo arunkumar071106/new.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5300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35905"/>
                <a:ext cx="11918203" cy="707886"/>
                <a:chOff x="118858" y="544465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44465"/>
                  <a:ext cx="11918203" cy="707886"/>
                  <a:chOff x="118858" y="544465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627025" y="544465"/>
                    <a:ext cx="6424292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LITERATURE SURVEY 1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05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F729BA-AE5C-4D93-AE0F-AFC8E8157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38148"/>
              </p:ext>
            </p:extLst>
          </p:nvPr>
        </p:nvGraphicFramePr>
        <p:xfrm>
          <a:off x="838200" y="1464349"/>
          <a:ext cx="10655630" cy="45841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327815">
                  <a:extLst>
                    <a:ext uri="{9D8B030D-6E8A-4147-A177-3AD203B41FA5}">
                      <a16:colId xmlns:a16="http://schemas.microsoft.com/office/drawing/2014/main" val="496238443"/>
                    </a:ext>
                  </a:extLst>
                </a:gridCol>
                <a:gridCol w="5327815">
                  <a:extLst>
                    <a:ext uri="{9D8B030D-6E8A-4147-A177-3AD203B41FA5}">
                      <a16:colId xmlns:a16="http://schemas.microsoft.com/office/drawing/2014/main" val="1745583484"/>
                    </a:ext>
                  </a:extLst>
                </a:gridCol>
              </a:tblGrid>
              <a:tr h="89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Name of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An Empirical Study on Configuration Errors in Commercial and Open Source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99611"/>
                  </a:ext>
                </a:extLst>
              </a:tr>
              <a:tr h="358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Year of 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2011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039649"/>
                  </a:ext>
                </a:extLst>
              </a:tr>
              <a:tr h="627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Z. Yin, X. Ma, J. Zheng, Y. Zhou, L. N. Bairavasundaram, S. Pasupathy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955717"/>
                  </a:ext>
                </a:extLst>
              </a:tr>
              <a:tr h="358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Name of the 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ACM SOSP (23rd Symposium on Operating Systems Principles)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36174"/>
                  </a:ext>
                </a:extLst>
              </a:tr>
              <a:tr h="1164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Studies 546 real misconfiguration cases from commercial and open-source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538969"/>
                  </a:ext>
                </a:extLst>
              </a:tr>
              <a:tr h="1164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Inferences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Many misconfigurations are illegal parameter values, so settings should be typed and checked before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139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13" name="Group 12"/>
            <p:cNvGrpSpPr/>
            <p:nvPr/>
          </p:nvGrpSpPr>
          <p:grpSpPr>
            <a:xfrm>
              <a:off x="118858" y="648490"/>
              <a:ext cx="11918203" cy="707886"/>
              <a:chOff x="118858" y="557050"/>
              <a:chExt cx="11918203" cy="707886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118858" y="557050"/>
                <a:ext cx="11918203" cy="707886"/>
                <a:chOff x="118858" y="557050"/>
                <a:chExt cx="11918203" cy="707886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93830" y="626793"/>
                  <a:ext cx="543231" cy="543231"/>
                </a:xfrm>
                <a:prstGeom prst="rect">
                  <a:avLst/>
                </a:prstGeom>
              </p:spPr>
            </p:pic>
            <p:sp>
              <p:nvSpPr>
                <p:cNvPr id="4" name="Rectangle 3"/>
                <p:cNvSpPr/>
                <p:nvPr/>
              </p:nvSpPr>
              <p:spPr>
                <a:xfrm>
                  <a:off x="2024377" y="573269"/>
                  <a:ext cx="9316721" cy="663566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3423767" y="557050"/>
                  <a:ext cx="651794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LITERATURE SURVEY 2</a:t>
                  </a:r>
                  <a:endParaRPr lang="en-IN" sz="40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118858" y="573269"/>
                  <a:ext cx="1669302" cy="663566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620563" y="665602"/>
                <a:ext cx="6658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06</a:t>
                </a:r>
                <a:endParaRPr lang="en-IN" sz="2800" dirty="0">
                  <a:solidFill>
                    <a:schemeClr val="bg1"/>
                  </a:solidFill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11056619" y="528635"/>
              <a:ext cx="998220" cy="935714"/>
              <a:chOff x="11056619" y="528635"/>
              <a:chExt cx="998220" cy="935714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11056619" y="1415385"/>
                <a:ext cx="998220" cy="4896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1056619" y="528635"/>
                <a:ext cx="998220" cy="4896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B75983-5699-920F-7092-45251D571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173796"/>
              </p:ext>
            </p:extLst>
          </p:nvPr>
        </p:nvGraphicFramePr>
        <p:xfrm>
          <a:off x="1128774" y="1669744"/>
          <a:ext cx="10212324" cy="40119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06162">
                  <a:extLst>
                    <a:ext uri="{9D8B030D-6E8A-4147-A177-3AD203B41FA5}">
                      <a16:colId xmlns:a16="http://schemas.microsoft.com/office/drawing/2014/main" val="2458156220"/>
                    </a:ext>
                  </a:extLst>
                </a:gridCol>
                <a:gridCol w="5106162">
                  <a:extLst>
                    <a:ext uri="{9D8B030D-6E8A-4147-A177-3AD203B41FA5}">
                      <a16:colId xmlns:a16="http://schemas.microsoft.com/office/drawing/2014/main" val="189790825"/>
                    </a:ext>
                  </a:extLst>
                </a:gridCol>
              </a:tblGrid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latin typeface="Bookman Old Style" panose="02050604050505020204" pitchFamily="18" charset="0"/>
                        </a:rPr>
                        <a:t>Name of the Paper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Systems Approaches to Tackling Configuration Errors: A Survey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39666700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Bookman Old Style" panose="02050604050505020204" pitchFamily="18" charset="0"/>
                        </a:rPr>
                        <a:t>Year of Publish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2015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628860269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Bookman Old Style" panose="02050604050505020204" pitchFamily="18" charset="0"/>
                        </a:rPr>
                        <a:t>Name of the Authors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T. Xu, Y. Zhou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06464836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latin typeface="Bookman Old Style" panose="02050604050505020204" pitchFamily="18" charset="0"/>
                        </a:rPr>
                        <a:t>Name of the Journal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ACM Computing Surveys, vol. 47, no. 4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069179121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Bookman Old Style" panose="02050604050505020204" pitchFamily="18" charset="0"/>
                        </a:rPr>
                        <a:t>Methodology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Surveys techniques to prevent, detect and diagnose configuration errors.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553444009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latin typeface="Bookman Old Style" panose="02050604050505020204" pitchFamily="18" charset="0"/>
                        </a:rPr>
                        <a:t>Inferences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Prevention and detection before deployment are separate from diagnosis: schema (prevention); lint, tests and CI (detection).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007573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15817"/>
                <a:ext cx="11918203" cy="712458"/>
                <a:chOff x="118858" y="524377"/>
                <a:chExt cx="11918203" cy="712458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4377"/>
                  <a:ext cx="11918203" cy="712458"/>
                  <a:chOff x="118858" y="524377"/>
                  <a:chExt cx="11918203" cy="712458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627025" y="524377"/>
                    <a:ext cx="6424292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LITERATURE SURVEY 3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07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140932"/>
              </p:ext>
            </p:extLst>
          </p:nvPr>
        </p:nvGraphicFramePr>
        <p:xfrm>
          <a:off x="763929" y="1522448"/>
          <a:ext cx="10887297" cy="4666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832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Name of the Paper: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b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Characterizing Defective Configuration Scripts Used for Continuous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19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Year of Publish: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Bookman Old Style" panose="02050604050505020204" pitchFamily="18" charset="0"/>
                        </a:rPr>
                        <a:t>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9381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Name of the Authors: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Bookman Old Style" panose="02050604050505020204" pitchFamily="18" charset="0"/>
                        </a:rPr>
                        <a:t>A. Rahman, L. Williams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282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Name of the Journal: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Bookman Old Style" panose="02050604050505020204" pitchFamily="18" charset="0"/>
                        </a:rPr>
                        <a:t>IEEE ICST (11th Int. Conf. on Software Testing, Verification and Validation)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832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Methodology: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Bookman Old Style" panose="02050604050505020204" pitchFamily="18" charset="0"/>
                        </a:rPr>
                        <a:t>Analyses defects in open-source configuration scripts that are used for continuous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282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Inferences: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Bookman Old Style" panose="02050604050505020204" pitchFamily="18" charset="0"/>
                        </a:rPr>
                        <a:t>Configuration code is defect-prone, so the chart and values need review, version control and automated tests.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16" name="Group 15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7886"/>
                <a:chOff x="118858" y="528949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7886"/>
                  <a:chOff x="118858" y="528949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607132" y="528949"/>
                    <a:ext cx="6340473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LITERATURE SURVEY 4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08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8" name="Rectangle 17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CEDAC5-C4B5-FD9C-D4AD-E5D5A0A9A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86764"/>
              </p:ext>
            </p:extLst>
          </p:nvPr>
        </p:nvGraphicFramePr>
        <p:xfrm>
          <a:off x="825498" y="1920238"/>
          <a:ext cx="10515600" cy="42319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966982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78444468"/>
                    </a:ext>
                  </a:extLst>
                </a:gridCol>
              </a:tblGrid>
              <a:tr h="866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Name of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Security Misconfigurations in Open Source Kubernetes Manifests: An Empirical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836714"/>
                  </a:ext>
                </a:extLst>
              </a:tr>
              <a:tr h="495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Year of 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53913"/>
                  </a:ext>
                </a:extLst>
              </a:tr>
              <a:tr h="495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A. Rahman, S. I. Shamim, D. B. Bose, R. Pandita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30562"/>
                  </a:ext>
                </a:extLst>
              </a:tr>
              <a:tr h="495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Name of the 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ACM Transactions on Software Engineering and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385248"/>
                  </a:ext>
                </a:extLst>
              </a:tr>
              <a:tr h="866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Analyses 2,039 Kubernetes manifests from 92 repositories and finds 11 categories of security misconfiguration.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984096"/>
                  </a:ext>
                </a:extLst>
              </a:tr>
              <a:tr h="866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Inferences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Missing resource limits and weak security contexts are common; our chart sets limits, a non-root user and drops capabilities.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931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7886"/>
                <a:chOff x="118858" y="528949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7886"/>
                  <a:chOff x="118858" y="528949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627025" y="528949"/>
                    <a:ext cx="6424292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LITERATURE SURVEY 5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09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81CF3F-3D7A-68BE-2B21-B4AF5A69F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389027"/>
              </p:ext>
            </p:extLst>
          </p:nvPr>
        </p:nvGraphicFramePr>
        <p:xfrm>
          <a:off x="825498" y="1819509"/>
          <a:ext cx="105156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490660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07345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Name of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Helm Charts for Kubernetes Applications: Evolution, Outdatedness and Security Risks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413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Year of 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23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A. Zerouali, R. Opdebeeck, C. De Roover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91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Name of the 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IEEE/ACM MSR (20th Int. Conf. on Mining Software Repositories)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701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Bookman Old Style" panose="020506040505050202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Analyses 9,482 Helm charts and their container images for outdated and vulnerable components.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806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Bookman Old Style" panose="02050604050505020204" pitchFamily="18" charset="0"/>
                        </a:rPr>
                        <a:t>Inferences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Public charts often carry outdated or vulnerable components, so our chart pins versions and uses a slim base image.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8045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35905"/>
                <a:ext cx="11918203" cy="707886"/>
                <a:chOff x="118858" y="544465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44465"/>
                  <a:ext cx="11918203" cy="707886"/>
                  <a:chOff x="118858" y="544465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4033933" y="544465"/>
                    <a:ext cx="5739988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BLOCK DIAGRAM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10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F7B143-27A7-816B-413B-B80877977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006" y="1570812"/>
            <a:ext cx="10190723" cy="46512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9284-9A24-3227-14DB-ECD88EE8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041AE84-221A-9686-9BCA-21BB9E74D8FC}"/>
              </a:ext>
            </a:extLst>
          </p:cNvPr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FBB6186-5F74-B3B8-6793-A7A4FA17862E}"/>
                </a:ext>
              </a:extLst>
            </p:cNvPr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DF7BF51-4709-181E-EEF8-9170DD290F10}"/>
                  </a:ext>
                </a:extLst>
              </p:cNvPr>
              <p:cNvGrpSpPr/>
              <p:nvPr/>
            </p:nvGrpSpPr>
            <p:grpSpPr>
              <a:xfrm>
                <a:off x="118858" y="635905"/>
                <a:ext cx="11918203" cy="707886"/>
                <a:chOff x="118858" y="544465"/>
                <a:chExt cx="11918203" cy="707886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45060DE9-D8D3-C8F4-985A-0A6C3728F7EB}"/>
                    </a:ext>
                  </a:extLst>
                </p:cNvPr>
                <p:cNvGrpSpPr/>
                <p:nvPr/>
              </p:nvGrpSpPr>
              <p:grpSpPr>
                <a:xfrm>
                  <a:off x="118858" y="544465"/>
                  <a:ext cx="11918203" cy="707886"/>
                  <a:chOff x="118858" y="544465"/>
                  <a:chExt cx="11918203" cy="707886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7A519776-D263-CE1E-B06A-5C3AA2CADD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748C24E8-1FEC-4CF5-20FC-3212F7C25D9E}"/>
                      </a:ext>
                    </a:extLst>
                  </p:cNvPr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F22C703-2664-C684-C31E-6D60E75B4F2E}"/>
                      </a:ext>
                    </a:extLst>
                  </p:cNvPr>
                  <p:cNvSpPr txBox="1"/>
                  <p:nvPr/>
                </p:nvSpPr>
                <p:spPr>
                  <a:xfrm>
                    <a:off x="4033933" y="544465"/>
                    <a:ext cx="5739988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32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SYSTEM ARCHITECTURE</a:t>
                    </a:r>
                    <a:endParaRPr lang="en-IN" sz="40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09E2372F-492A-807E-DEAF-E1EA0C629FC6}"/>
                      </a:ext>
                    </a:extLst>
                  </p:cNvPr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E3D86F3-4B33-4E0B-3404-A7E66CCA81B4}"/>
                    </a:ext>
                  </a:extLst>
                </p:cNvPr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11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83CF3C2-51B5-42A3-E312-80AC7E568A26}"/>
                  </a:ext>
                </a:extLst>
              </p:cNvPr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2ECD01F5-0712-9C20-59F2-055CFF52DC41}"/>
                    </a:ext>
                  </a:extLst>
                </p:cNvPr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6111723-CE87-94DE-597E-89ED016B4A96}"/>
                    </a:ext>
                  </a:extLst>
                </p:cNvPr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A94354-F316-63DD-8239-1CAC6A99276C}"/>
                </a:ext>
              </a:extLst>
            </p:cNvPr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33CCAA5-5AB9-FCDA-5754-1700D875BB2A}"/>
                </a:ext>
              </a:extLst>
            </p:cNvPr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5664D3F-36FD-136B-9F5B-EF19E2A076B9}"/>
              </a:ext>
            </a:extLst>
          </p:cNvPr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2D5BB-FA18-FB94-637B-8DF7B2001831}"/>
              </a:ext>
            </a:extLst>
          </p:cNvPr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FB17D8-980F-4F1E-FB02-FABCBB30C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98" y="1464349"/>
            <a:ext cx="10606500" cy="503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8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7886"/>
                <a:chOff x="118858" y="528949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7886"/>
                  <a:chOff x="118858" y="528949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4683238" y="528949"/>
                    <a:ext cx="4447540" cy="706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US" altLang="en-IN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DESCRIPTION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12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4085" y="1481065"/>
            <a:ext cx="10881360" cy="4943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The project is a multi-environment configuration-management solution: a Flask dashboard is packaged as one Docker image (python:3.12-slim, non-root) and deployed to development, testing, staging and production from a single Helm chart.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Each environment is a small values file (28–43 lines) over values.yaml. values.schema.json rejects unknown environments, wrong types, out-of-range numbers and secrets before deployment; a checksum annotation restarts Pods on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deploy.sh runs helm upgrade --install --atomic into one namespace per environment (dev, test, staging, prod); production reads SECRET_KEY from a Kubernetes Secret. helm test, upgrade, history and rollback manage the releases.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GitHub Actions runs 62 pytest cases, helm lint, template and kubeconform checks and a Docker smoke test, then deploys all four environments to a kind cluster on every push.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7886"/>
                <a:chOff x="118858" y="528949"/>
                <a:chExt cx="11918203" cy="707886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7886"/>
                  <a:chOff x="118858" y="528949"/>
                  <a:chExt cx="11918203" cy="707886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024493" y="528949"/>
                    <a:ext cx="9316085" cy="706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en-IN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RESULTS AND DISCUSSION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13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4705" y="1678940"/>
            <a:ext cx="11240770" cy="4745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Developed the Flask dashboard and the Helm chart; all four environments were deployed in 40 s on a kind cluster, with 1, 1, 2 and 3 replicas.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All 56 settings reported by the running Pods matched the values files; 26 of 26 live checks (including 4 helm tests) and 62 of 62 pytest cases passed.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The schema rejected 14 of 14 invalid inputs before deployment; for four environments the chart needs 42 % fewer lines than copied manifests.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An upgrade to a missing image was undone by --atomic; helm upgrade created revision 2 and helm rollback restored version 1.0.0 as revision 3.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1.2 to 1.5 % of requests failed during rolling updates even with maxUnavailable: 0, and none with a 5 s preStop delay; Minikube was not executed.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8025"/>
                <a:chOff x="118858" y="528949"/>
                <a:chExt cx="11918203" cy="708025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8025"/>
                  <a:chOff x="118858" y="528949"/>
                  <a:chExt cx="11918203" cy="708025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024493" y="528949"/>
                    <a:ext cx="9317355" cy="7080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l"/>
                    <a:r>
                      <a:rPr lang="en-US" altLang="en-IN" sz="36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                   TIME SPAN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14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2870498741"/>
              </p:ext>
            </p:extLst>
          </p:nvPr>
        </p:nvGraphicFramePr>
        <p:xfrm>
          <a:off x="737267" y="1517154"/>
          <a:ext cx="10603831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Particulars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Approx Time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Status of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Literature Survey and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System Design and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Flask Application and Dashboard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Dockerfile and Docker Image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Helm Chart, Values and Schema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Scripts, Tests and CI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ookman Old Style" panose="02050604050505020204" pitchFamily="18" charset="0"/>
                        </a:rP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Completed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Cluster Testing and Validation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Report Writing and Documentation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2 weeks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8339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20389"/>
                <a:ext cx="11918203" cy="708025"/>
                <a:chOff x="118858" y="528949"/>
                <a:chExt cx="11918203" cy="708025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28949"/>
                  <a:ext cx="11918203" cy="708025"/>
                  <a:chOff x="118858" y="528949"/>
                  <a:chExt cx="11918203" cy="708025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024493" y="528949"/>
                    <a:ext cx="9317355" cy="7080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just"/>
                    <a:r>
                      <a:rPr lang="en-US" altLang="en-IN" sz="36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                      BUDGET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15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495300" y="1838325"/>
          <a:ext cx="11201400" cy="351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165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S.No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Particulars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Specification / Model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No. of Units Required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Approx. Price per Unit (₹)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Total Amount (₹)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Software Tools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Open-source tools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Internet and Data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Image pulls, docs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Cloud VM (Optional)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Linux VM for demo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2,000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2,000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Testing and Maintenance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Testing, debugging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1,500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Documentation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Printing, binding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Bookman Old Style" panose="02050604050505020204" pitchFamily="18" charset="0"/>
                          <a:cs typeface="Bookman Old Style" panose="02050604050505020204" pitchFamily="18" charset="0"/>
                        </a:rPr>
                        <a:t>1,500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64709"/>
                <a:ext cx="11918203" cy="736835"/>
                <a:chOff x="118858" y="573269"/>
                <a:chExt cx="11918203" cy="736835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73269"/>
                  <a:ext cx="11918203" cy="736835"/>
                  <a:chOff x="118858" y="573269"/>
                  <a:chExt cx="11918203" cy="736835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405087" y="603349"/>
                    <a:ext cx="6555299" cy="706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US" altLang="en-IN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     REFERENCES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16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4705" y="1530350"/>
            <a:ext cx="11113770" cy="4692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>
                <a:latin typeface="Bookman Old Style" panose="02050604050505020204" pitchFamily="18" charset="0"/>
              </a:rPr>
              <a:t>[1] Z. Yin, X. Ma, J. Zheng, Y. Zhou, L. N. Bairavasundaram and S. Pasupathy, "An empirical study on configuration errors in commercial and open source systems," in Proc. 23rd ACM Symposium on Operating Systems Principles (SOSP), 2011, pp. 159–172.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>
                <a:latin typeface="Bookman Old Style" panose="02050604050505020204" pitchFamily="18" charset="0"/>
              </a:rPr>
              <a:t>[2] T. Xu and Y. Zhou, "Systems approaches to tackling configuration errors: A survey," ACM Computing Surveys, vol. 47, no. 4, Art. 70, Jul. 2015.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altLang="en-US" dirty="0">
              <a:latin typeface="Bookman Old Style" panose="020506040505050202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>
                <a:latin typeface="Bookman Old Style" panose="02050604050505020204" pitchFamily="18" charset="0"/>
              </a:rPr>
              <a:t>[3] A. Rahman and L. Williams, "Characterizing defective configuration scripts used for continuous deployment," in Proc. 11th IEEE Int. Conf. on Software Testing, Verification and Validation (ICST), 2018.</a:t>
            </a:r>
            <a:endParaRPr lang="en-US" altLang="en-US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18858" y="528635"/>
            <a:ext cx="11935981" cy="935714"/>
            <a:chOff x="118858" y="528635"/>
            <a:chExt cx="11935981" cy="935714"/>
          </a:xfrm>
        </p:grpSpPr>
        <p:grpSp>
          <p:nvGrpSpPr>
            <p:cNvPr id="8" name="Group 7"/>
            <p:cNvGrpSpPr/>
            <p:nvPr/>
          </p:nvGrpSpPr>
          <p:grpSpPr>
            <a:xfrm>
              <a:off x="118858" y="528635"/>
              <a:ext cx="11935981" cy="935714"/>
              <a:chOff x="118858" y="528635"/>
              <a:chExt cx="11935981" cy="93571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8858" y="664709"/>
                <a:ext cx="11918203" cy="736835"/>
                <a:chOff x="118858" y="573269"/>
                <a:chExt cx="11918203" cy="736835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8858" y="573269"/>
                  <a:ext cx="11918203" cy="736835"/>
                  <a:chOff x="118858" y="573269"/>
                  <a:chExt cx="11918203" cy="736835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3830" y="626793"/>
                    <a:ext cx="543231" cy="543231"/>
                  </a:xfrm>
                  <a:prstGeom prst="rect">
                    <a:avLst/>
                  </a:prstGeom>
                </p:spPr>
              </p:pic>
              <p:sp>
                <p:nvSpPr>
                  <p:cNvPr id="4" name="Rectangle 3"/>
                  <p:cNvSpPr/>
                  <p:nvPr/>
                </p:nvSpPr>
                <p:spPr>
                  <a:xfrm>
                    <a:off x="2024377" y="573269"/>
                    <a:ext cx="9316721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405087" y="603349"/>
                    <a:ext cx="6555299" cy="706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US" altLang="en-IN" sz="40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     REFERENCES</a:t>
                    </a:r>
                  </a:p>
                </p:txBody>
              </p:sp>
              <p:sp>
                <p:nvSpPr>
                  <p:cNvPr id="6" name="Rectangle 5"/>
                  <p:cNvSpPr/>
                  <p:nvPr/>
                </p:nvSpPr>
                <p:spPr>
                  <a:xfrm>
                    <a:off x="118858" y="573269"/>
                    <a:ext cx="1669302" cy="663566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20563" y="665602"/>
                  <a:ext cx="66589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bg1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17</a:t>
                  </a:r>
                  <a:endParaRPr lang="en-IN" sz="2800" dirty="0">
                    <a:solidFill>
                      <a:schemeClr val="bg1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1056619" y="528635"/>
                <a:ext cx="998220" cy="935714"/>
                <a:chOff x="11056619" y="528635"/>
                <a:chExt cx="998220" cy="935714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11056619" y="141538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1056619" y="528635"/>
                  <a:ext cx="998220" cy="48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081023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63859" y="1415385"/>
              <a:ext cx="162561" cy="4896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58" y="6425543"/>
            <a:ext cx="4987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7795" y="119449"/>
            <a:ext cx="4007044" cy="3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AAA College of Engineering and Technology</a:t>
            </a:r>
            <a:endParaRPr lang="en-IN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250" y="1561465"/>
            <a:ext cx="11113770" cy="4692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>
                <a:latin typeface="Bookman Old Style" panose="02050604050505020204" pitchFamily="18" charset="0"/>
              </a:rPr>
              <a:t>[4] A. Rahman, S. I. Shamim, D. B. Bose and R. Pandita, "Security misconfigurations in open source Kubernetes manifests: An empirical study," ACM Trans. Softw. Eng. Methodol., 2023.</a:t>
            </a:r>
            <a:br>
              <a:rPr lang="en-IN" dirty="0">
                <a:latin typeface="Bookman Old Style" panose="02050604050505020204" pitchFamily="18" charset="0"/>
              </a:rPr>
            </a:br>
            <a:endParaRPr lang="en-IN" altLang="en-US" dirty="0">
              <a:latin typeface="Bookman Old Style" panose="020506040505050202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>
                <a:latin typeface="Bookman Old Style" panose="02050604050505020204" pitchFamily="18" charset="0"/>
              </a:rPr>
              <a:t>[5] A. Zerouali, R. Opdebeeck and C. De Roover, "Helm charts for Kubernetes applications: Evolution, outdatedness and security risks," in Proc. 20th IEEE/ACM Int. Conf. on Mining Software Repositories (MSR), 2023.</a:t>
            </a:r>
            <a:br>
              <a:rPr lang="en-IN" dirty="0">
                <a:latin typeface="Bookman Old Style" panose="02050604050505020204" pitchFamily="18" charset="0"/>
              </a:rPr>
            </a:br>
            <a:br>
              <a:rPr lang="en-IN" dirty="0">
                <a:latin typeface="Bookman Old Style" panose="02050604050505020204" pitchFamily="18" charset="0"/>
              </a:rPr>
            </a:br>
            <a:br>
              <a:rPr lang="en-IN" dirty="0">
                <a:latin typeface="Bookman Old Style" panose="02050604050505020204" pitchFamily="18" charset="0"/>
              </a:rPr>
            </a:br>
            <a:endParaRPr lang="en-US" altLang="en-US" dirty="0">
              <a:latin typeface="Bookman Old Style" panose="020506040505050202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>
                <a:latin typeface="Bookman Old Style" panose="02050604050505020204" pitchFamily="18" charset="0"/>
              </a:rPr>
              <a:t>[6] The Helm Authors, "Values files," Helm Documentation. https://helm.sh/docs/chart_template_guide/values_files/</a:t>
            </a:r>
            <a:br>
              <a:rPr lang="en-IN" dirty="0">
                <a:latin typeface="Bookman Old Style" panose="02050604050505020204" pitchFamily="18" charset="0"/>
              </a:rPr>
            </a:br>
            <a:endParaRPr lang="en-IN" altLang="en-US" dirty="0">
              <a:latin typeface="Bookman Old Style" panose="020506040505050202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1667</Words>
  <Application>Microsoft Office PowerPoint</Application>
  <PresentationFormat>Widescreen</PresentationFormat>
  <Paragraphs>254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Multi-Environment Configuration Management with Helm - First Review</dc:title>
  <dc:creator>Arun Kumar T; Priyan M</dc:creator>
  <cp:lastModifiedBy>Arun Kumar T; Priyan M</cp:lastModifiedBy>
  <cp:revision>25</cp:revision>
  <dcterms:created xsi:type="dcterms:W3CDTF">2026-06-23T06:23:00Z</dcterms:created>
  <dcterms:modified xsi:type="dcterms:W3CDTF">2026-10-21T02:49:17Z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A357E0AC50944E859DA57188AAE67C49_13</vt:lpwstr>
  </property>
</Properties>
</file>